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2" r:id="rId3"/>
    <p:sldId id="257" r:id="rId4"/>
    <p:sldId id="264" r:id="rId5"/>
    <p:sldId id="263" r:id="rId6"/>
    <p:sldId id="260" r:id="rId7"/>
    <p:sldId id="265" r:id="rId8"/>
    <p:sldId id="266" r:id="rId9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SemiBold" panose="00000700000000000000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Light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DE80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CC1A45-E36C-4588-91FE-30AFC484604F}" v="65" dt="2026-02-18T21:07:01.407"/>
  </p1510:revLst>
</p1510:revInfo>
</file>

<file path=ppt/tableStyles.xml><?xml version="1.0" encoding="utf-8"?>
<a:tblStyleLst xmlns:a="http://schemas.openxmlformats.org/drawingml/2006/main" def="{3C41CCF0-16FC-4418-AEE5-1E30532F3AE7}">
  <a:tblStyle styleId="{3C41CCF0-16FC-4418-AEE5-1E30532F3A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132" autoAdjust="0"/>
  </p:normalViewPr>
  <p:slideViewPr>
    <p:cSldViewPr snapToGrid="0">
      <p:cViewPr varScale="1">
        <p:scale>
          <a:sx n="57" d="100"/>
          <a:sy n="57" d="100"/>
        </p:scale>
        <p:origin x="1651" y="27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78529889-D4E7-A13B-2083-52A3F15D7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5D6C678-D239-7E27-1B08-37C6EB49C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s-ES" b="1" dirty="0"/>
              <a:t>Objetivo:</a:t>
            </a:r>
            <a:r>
              <a:rPr lang="es-ES" dirty="0"/>
              <a:t> Introducir el flujo de trabajo y la gestión del modelo.</a:t>
            </a:r>
          </a:p>
          <a:p>
            <a:pPr marL="158750" indent="0">
              <a:buNone/>
            </a:pPr>
            <a:r>
              <a:rPr lang="es-ES" b="1" dirty="0"/>
              <a:t>Guion:</a:t>
            </a:r>
            <a:r>
              <a:rPr lang="es-ES" dirty="0"/>
              <a:t> "Bienvenidos. Hoy analizaremos cómo gestionar el ciclo de vida de un modelo de Machine Learning, desde que finaliza su entrenamiento hasta que es consumido en producción. El objetivo central de </a:t>
            </a:r>
            <a:r>
              <a:rPr lang="es-ES" dirty="0" err="1"/>
              <a:t>MLOps</a:t>
            </a:r>
            <a:r>
              <a:rPr lang="es-ES" dirty="0"/>
              <a:t> no es solo crear modelos, sino asegurar que su despliegue sea continuo, seguro y automatizado."</a:t>
            </a:r>
          </a:p>
          <a:p>
            <a:r>
              <a:rPr lang="es-ES" b="1" dirty="0"/>
              <a:t>Puntos clave:</a:t>
            </a:r>
            <a:endParaRPr lang="es-ES" dirty="0"/>
          </a:p>
          <a:p>
            <a:pPr lvl="1"/>
            <a:r>
              <a:rPr lang="es-ES" dirty="0"/>
              <a:t>Presentación del diagrama de flujo que conecta el Registro de Modelos con el despliegue final.</a:t>
            </a:r>
          </a:p>
          <a:p>
            <a:pPr lvl="1"/>
            <a:r>
              <a:rPr lang="es-ES" dirty="0"/>
              <a:t>Poner en contexto explicar brevemente que es cada etapa: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handover</a:t>
            </a:r>
            <a:r>
              <a:rPr lang="es-ES" dirty="0"/>
              <a:t>,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Registry</a:t>
            </a:r>
            <a:r>
              <a:rPr lang="es-ES" dirty="0"/>
              <a:t>, CD: ML </a:t>
            </a:r>
            <a:r>
              <a:rPr lang="es-ES" dirty="0" err="1"/>
              <a:t>model</a:t>
            </a:r>
            <a:r>
              <a:rPr lang="es-ES" dirty="0"/>
              <a:t>, Ml </a:t>
            </a:r>
            <a:r>
              <a:rPr lang="es-ES" dirty="0" err="1"/>
              <a:t>model</a:t>
            </a:r>
            <a:endParaRPr lang="es-ES" dirty="0"/>
          </a:p>
          <a:p>
            <a:pPr lvl="1"/>
            <a:r>
              <a:rPr lang="es-ES" dirty="0"/>
              <a:t>Importancia de la aprobación humana antes de pasar a producción.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C73C459C-404F-D611-7421-10DAAA8E3B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3751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s-ES" b="1" dirty="0"/>
              <a:t>Objetivo:</a:t>
            </a:r>
            <a:r>
              <a:rPr lang="es-ES" dirty="0"/>
              <a:t> Explicar la diferencia técnica entre datos y metadatos y cómo evitar parones en el flujo.</a:t>
            </a:r>
          </a:p>
          <a:p>
            <a:pPr marL="158750" indent="0">
              <a:buNone/>
            </a:pPr>
            <a:r>
              <a:rPr lang="es-ES" b="1" dirty="0"/>
              <a:t>Guion:</a:t>
            </a:r>
            <a:r>
              <a:rPr lang="es-ES" dirty="0"/>
              <a:t> "Para que el sistema funcione, debemos distinguir entre dos flujos. Primero, el </a:t>
            </a:r>
            <a:r>
              <a:rPr lang="es-ES" b="1" dirty="0"/>
              <a:t>Dato</a:t>
            </a:r>
            <a:r>
              <a:rPr lang="es-ES" dirty="0"/>
              <a:t>, que es el binario o '</a:t>
            </a:r>
            <a:r>
              <a:rPr lang="es-ES" dirty="0" err="1"/>
              <a:t>payload</a:t>
            </a:r>
            <a:r>
              <a:rPr lang="es-ES" dirty="0"/>
              <a:t>' del modelo (como un archivo .</a:t>
            </a:r>
            <a:r>
              <a:rPr lang="es-ES" dirty="0" err="1"/>
              <a:t>pkl</a:t>
            </a:r>
            <a:r>
              <a:rPr lang="es-ES" dirty="0"/>
              <a:t>). Segundo, el </a:t>
            </a:r>
            <a:r>
              <a:rPr lang="es-ES" b="1" dirty="0"/>
              <a:t>Metadato</a:t>
            </a:r>
            <a:r>
              <a:rPr lang="es-ES" dirty="0"/>
              <a:t>, que es el contexto: quién lo aprobó, qué versión es y sus métricas de precisión. El gran cuello de botella suele ser la aprobación manual para pasar de </a:t>
            </a:r>
            <a:r>
              <a:rPr lang="es-ES" dirty="0" err="1"/>
              <a:t>Staging</a:t>
            </a:r>
            <a:r>
              <a:rPr lang="es-ES" dirty="0"/>
              <a:t> a Producción. Si el experto no está disponible, el despliegue se detiene. ¿una posible solución? Automatizar este paso mediante umbrales; por ejemplo, si el modelo supera el 98% de </a:t>
            </a:r>
            <a:r>
              <a:rPr lang="es-ES" i="1" dirty="0" err="1"/>
              <a:t>accuracy</a:t>
            </a:r>
            <a:r>
              <a:rPr lang="es-ES" dirty="0"/>
              <a:t>, se aprueba automáticamente.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B3D465EC-9271-63B5-857F-0E119AAB6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572001E-FE01-9AD7-6A5A-72D350AD9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s-ES" b="1" dirty="0"/>
              <a:t>Objetivo:</a:t>
            </a:r>
            <a:r>
              <a:rPr lang="es-ES" dirty="0"/>
              <a:t> Mostrar la capacidad de respuesta ante errores críticos.</a:t>
            </a:r>
          </a:p>
          <a:p>
            <a:pPr marL="158750" indent="0">
              <a:buNone/>
            </a:pPr>
            <a:r>
              <a:rPr lang="es-ES" b="1" dirty="0"/>
              <a:t>Guion:</a:t>
            </a:r>
            <a:r>
              <a:rPr lang="es-ES" dirty="0"/>
              <a:t> "Imaginad que son las 3:00 AM y un despliegue falla. El sistema de monitoreo detecta la anomalía y dispara alertas automáticas. Gracias a estrategias como el </a:t>
            </a:r>
            <a:r>
              <a:rPr lang="es-ES" b="1" dirty="0" err="1"/>
              <a:t>Canary</a:t>
            </a:r>
            <a:r>
              <a:rPr lang="es-ES" b="1" dirty="0"/>
              <a:t> </a:t>
            </a:r>
            <a:r>
              <a:rPr lang="es-ES" b="1" dirty="0" err="1"/>
              <a:t>Deployment</a:t>
            </a:r>
            <a:r>
              <a:rPr lang="es-ES" dirty="0"/>
              <a:t>, solo el 10% del tráfico se ve afectado inicialmente. Si el error persiste, el sistema ejecuta un </a:t>
            </a:r>
            <a:r>
              <a:rPr lang="es-ES" b="1" dirty="0" err="1"/>
              <a:t>Rollback</a:t>
            </a:r>
            <a:r>
              <a:rPr lang="es-ES" b="1" dirty="0"/>
              <a:t> automático</a:t>
            </a:r>
            <a:r>
              <a:rPr lang="es-ES" dirty="0"/>
              <a:t> a la versión estable anterior, garantizando que nunca haya un corte de servicio para el usuario final."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4FD32F8-04CE-EA53-5519-91408FC53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318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0DE9AD0-3765-F21C-5B0E-475B68AB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AA7A5B2F-B26E-550C-519F-2241E9B05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s-ES" b="1" dirty="0"/>
              <a:t>Objetivo:</a:t>
            </a:r>
            <a:r>
              <a:rPr lang="es-ES" dirty="0"/>
              <a:t> Desglosar los riesgos técnicos en cada etapa del proceso.</a:t>
            </a:r>
          </a:p>
          <a:p>
            <a:pPr marL="158750" indent="0">
              <a:buNone/>
            </a:pPr>
            <a:r>
              <a:rPr lang="es-ES" b="1" dirty="0"/>
              <a:t>Guion:</a:t>
            </a:r>
            <a:r>
              <a:rPr lang="es-ES" dirty="0"/>
              <a:t> "Aquí vemos el 'mapa de riesgos' de nuestras transiciones. Al mover el modelo al Registro, el riesgo es la corrupción del archivo, lo cual mitigamos con validaciones de </a:t>
            </a:r>
            <a:r>
              <a:rPr lang="es-ES" dirty="0" err="1"/>
              <a:t>Checksum</a:t>
            </a:r>
            <a:r>
              <a:rPr lang="es-ES" dirty="0"/>
              <a:t>. En la fase de CD, el fallo suele estar en la construcción de la imagen, algo que resolvemos con chequeos previos de Integración Continua (CI). Cada paso tiene una herramienta asignada, como </a:t>
            </a:r>
            <a:r>
              <a:rPr lang="es-ES" dirty="0" err="1"/>
              <a:t>MLflow</a:t>
            </a:r>
            <a:r>
              <a:rPr lang="es-ES" dirty="0"/>
              <a:t> o </a:t>
            </a:r>
            <a:r>
              <a:rPr lang="es-ES" dirty="0" err="1"/>
              <a:t>ArgoCD</a:t>
            </a:r>
            <a:r>
              <a:rPr lang="es-ES" dirty="0"/>
              <a:t>, para minimizar estos modos de fallo."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18A4724-6E66-9F07-EB43-986654D48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7811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/>
              <a:t>Objetivo:</a:t>
            </a:r>
            <a:r>
              <a:rPr lang="es-ES" dirty="0"/>
              <a:t> Justificar por qué </a:t>
            </a:r>
            <a:r>
              <a:rPr lang="es-ES" dirty="0" err="1"/>
              <a:t>MLflow</a:t>
            </a:r>
            <a:r>
              <a:rPr lang="es-ES" dirty="0"/>
              <a:t> es el corazón de la gestión del modelo.</a:t>
            </a:r>
          </a:p>
          <a:p>
            <a:r>
              <a:rPr lang="es-ES" b="1" dirty="0"/>
              <a:t>Introducción:</a:t>
            </a:r>
            <a:r>
              <a:rPr lang="es-ES" dirty="0"/>
              <a:t> "Para gestionar con éxito el ciclo de vida que acabamos de ver, la herramienta central es </a:t>
            </a:r>
            <a:r>
              <a:rPr lang="es-ES" b="1" dirty="0" err="1"/>
              <a:t>MLflow</a:t>
            </a:r>
            <a:r>
              <a:rPr lang="es-ES" dirty="0"/>
              <a:t>. No es solo una elección técnica, es el estándar de la industria para el </a:t>
            </a:r>
            <a:r>
              <a:rPr lang="es-ES" b="1" dirty="0" err="1"/>
              <a:t>Model</a:t>
            </a:r>
            <a:r>
              <a:rPr lang="es-ES" b="1" dirty="0"/>
              <a:t> </a:t>
            </a:r>
            <a:r>
              <a:rPr lang="es-ES" b="1" dirty="0" err="1"/>
              <a:t>Registry</a:t>
            </a:r>
            <a:r>
              <a:rPr lang="es-ES" dirty="0"/>
              <a:t>."</a:t>
            </a:r>
          </a:p>
          <a:p>
            <a:r>
              <a:rPr lang="es-ES" b="1" dirty="0"/>
              <a:t>Puntos Clave:</a:t>
            </a:r>
            <a:r>
              <a:rPr lang="es-ES" dirty="0"/>
              <a:t> * "</a:t>
            </a:r>
            <a:r>
              <a:rPr lang="es-ES" dirty="0" err="1"/>
              <a:t>MLflow</a:t>
            </a:r>
            <a:r>
              <a:rPr lang="es-ES" dirty="0"/>
              <a:t> nos permite gestionar de forma nativa el versionado y, lo más importante, las etapas de transición entre </a:t>
            </a:r>
            <a:r>
              <a:rPr lang="es-ES" b="1" dirty="0" err="1"/>
              <a:t>Staging</a:t>
            </a:r>
            <a:r>
              <a:rPr lang="es-ES" b="1" dirty="0"/>
              <a:t> y Producción</a:t>
            </a:r>
            <a:r>
              <a:rPr lang="es-ES" dirty="0"/>
              <a:t>."</a:t>
            </a:r>
          </a:p>
          <a:p>
            <a:pPr lvl="1"/>
            <a:r>
              <a:rPr lang="es-ES" dirty="0"/>
              <a:t>"Esto nos garantiza una </a:t>
            </a:r>
            <a:r>
              <a:rPr lang="es-ES" b="1" dirty="0"/>
              <a:t>trazabilidad total</a:t>
            </a:r>
            <a:r>
              <a:rPr lang="es-ES" dirty="0"/>
              <a:t>: sabremos exactamente quién aprobó qué versión del modelo y en qué momento, facilitando auditorías y el control de calidad."</a:t>
            </a:r>
          </a:p>
          <a:p>
            <a:r>
              <a:rPr lang="es-ES" b="1" dirty="0"/>
              <a:t>Conclusión:</a:t>
            </a:r>
            <a:r>
              <a:rPr lang="es-ES" dirty="0"/>
              <a:t> "En definitiva, es el puente que conecta el trabajo del científico de datos con el equipo de operaciones de forma segura."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C99BD717-1D94-D876-2AAA-086D6726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C3B40AB3-CFBF-6277-CFA2-4B8117972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/>
              <a:t>Objetivo:</a:t>
            </a:r>
            <a:r>
              <a:rPr lang="es-ES" dirty="0"/>
              <a:t> Explicar la infraestructura de empaquetado y el despliegue continuo bajo </a:t>
            </a:r>
            <a:r>
              <a:rPr lang="es-ES" dirty="0" err="1"/>
              <a:t>GitOps</a:t>
            </a:r>
            <a:r>
              <a:rPr lang="es-ES" dirty="0"/>
              <a:t>.</a:t>
            </a:r>
          </a:p>
          <a:p>
            <a:r>
              <a:rPr lang="es-ES" b="1" dirty="0"/>
              <a:t>Introducción:</a:t>
            </a:r>
            <a:r>
              <a:rPr lang="es-ES" dirty="0"/>
              <a:t> "Una vez que el modelo está registrado, necesitamos motores robustos para moverlo a la infraestructura real. Aquí entran en juego los </a:t>
            </a:r>
            <a:r>
              <a:rPr lang="es-ES" b="1" dirty="0"/>
              <a:t>Contenedores Docker</a:t>
            </a:r>
            <a:r>
              <a:rPr lang="es-ES" dirty="0"/>
              <a:t> y </a:t>
            </a:r>
            <a:r>
              <a:rPr lang="es-ES" b="1" dirty="0" err="1"/>
              <a:t>ArgoCD</a:t>
            </a:r>
            <a:r>
              <a:rPr lang="es-ES" dirty="0"/>
              <a:t>."</a:t>
            </a:r>
          </a:p>
          <a:p>
            <a:r>
              <a:rPr lang="es-ES" b="1" dirty="0"/>
              <a:t>Puntos Clave:</a:t>
            </a:r>
            <a:endParaRPr lang="es-ES" dirty="0"/>
          </a:p>
          <a:p>
            <a:pPr lvl="1"/>
            <a:r>
              <a:rPr lang="es-ES" dirty="0"/>
              <a:t>"Con </a:t>
            </a:r>
            <a:r>
              <a:rPr lang="es-ES" b="1" dirty="0"/>
              <a:t>Docker</a:t>
            </a:r>
            <a:r>
              <a:rPr lang="es-ES" dirty="0"/>
              <a:t>, estandarizamos el entorno de ejecución bajo el lema </a:t>
            </a:r>
            <a:r>
              <a:rPr lang="es-ES" i="1" dirty="0"/>
              <a:t>'</a:t>
            </a:r>
            <a:r>
              <a:rPr lang="es-ES" i="1" dirty="0" err="1"/>
              <a:t>Build</a:t>
            </a:r>
            <a:r>
              <a:rPr lang="es-ES" i="1" dirty="0"/>
              <a:t> once, run </a:t>
            </a:r>
            <a:r>
              <a:rPr lang="es-ES" i="1" dirty="0" err="1"/>
              <a:t>anywhere</a:t>
            </a:r>
            <a:r>
              <a:rPr lang="es-ES" i="1" dirty="0"/>
              <a:t>'</a:t>
            </a:r>
            <a:r>
              <a:rPr lang="es-ES" dirty="0"/>
              <a:t>. Esto nos da aislamiento total y elimina el clásico problema de 'en mi máquina funcionaba'."</a:t>
            </a:r>
          </a:p>
          <a:p>
            <a:pPr lvl="1"/>
            <a:r>
              <a:rPr lang="es-ES" dirty="0"/>
              <a:t>"Por su parte, </a:t>
            </a:r>
            <a:r>
              <a:rPr lang="es-ES" b="1" dirty="0" err="1"/>
              <a:t>ArgoCD</a:t>
            </a:r>
            <a:r>
              <a:rPr lang="es-ES" dirty="0"/>
              <a:t> implementa la filosofía </a:t>
            </a:r>
            <a:r>
              <a:rPr lang="es-ES" b="1" dirty="0" err="1"/>
              <a:t>GitOps</a:t>
            </a:r>
            <a:r>
              <a:rPr lang="es-ES" dirty="0"/>
              <a:t>. Sincroniza automáticamente lo que definimos en Git con nuestro clúster. Si algo falla, permite una </a:t>
            </a:r>
            <a:r>
              <a:rPr lang="es-ES" b="1" dirty="0"/>
              <a:t>reversión instantánea</a:t>
            </a:r>
            <a:r>
              <a:rPr lang="es-ES" dirty="0"/>
              <a:t> (</a:t>
            </a:r>
            <a:r>
              <a:rPr lang="es-ES" dirty="0" err="1"/>
              <a:t>rollback</a:t>
            </a:r>
            <a:r>
              <a:rPr lang="es-ES" dirty="0"/>
              <a:t>) al estado anterior estable."</a:t>
            </a:r>
          </a:p>
          <a:p>
            <a:r>
              <a:rPr lang="es-ES" b="1" dirty="0"/>
              <a:t>Conclusión:</a:t>
            </a:r>
            <a:r>
              <a:rPr lang="es-ES" dirty="0"/>
              <a:t> "Esto no solo aumenta la velocidad de despliegue, sino que nos da una visibilidad absoluta de cada cambio.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DBFD37FD-4E3A-F6CA-D3E4-7C4A5463B0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5838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7D2B07E2-3CB3-A235-DC21-92184C71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CAD3D6C4-E2AC-B9C0-E45F-025BE2422D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/>
              <a:t>Objetivo:</a:t>
            </a:r>
            <a:r>
              <a:rPr lang="es-ES" dirty="0"/>
              <a:t> Cerrar con la plataforma que sostiene todo el ecosistema y su resiliencia.</a:t>
            </a:r>
          </a:p>
          <a:p>
            <a:r>
              <a:rPr lang="es-ES" b="1" dirty="0"/>
              <a:t>Introducción:</a:t>
            </a:r>
            <a:r>
              <a:rPr lang="es-ES" dirty="0"/>
              <a:t> "Finalmente, todo este ecosistema vive y respira dentro de </a:t>
            </a:r>
            <a:r>
              <a:rPr lang="es-ES" b="1" dirty="0" err="1"/>
              <a:t>Kubernetes</a:t>
            </a:r>
            <a:r>
              <a:rPr lang="es-ES" b="1" dirty="0"/>
              <a:t> (K8s)</a:t>
            </a:r>
            <a:r>
              <a:rPr lang="es-ES" dirty="0"/>
              <a:t>, la plataforma líder para automatizar el despliegue y escalado de nuestras aplicaciones."</a:t>
            </a:r>
          </a:p>
          <a:p>
            <a:r>
              <a:rPr lang="es-ES" b="1" dirty="0"/>
              <a:t>Puntos Clave:</a:t>
            </a:r>
            <a:endParaRPr lang="es-ES" dirty="0"/>
          </a:p>
          <a:p>
            <a:pPr lvl="1"/>
            <a:r>
              <a:rPr lang="es-ES" dirty="0"/>
              <a:t>"K8s nos aporta tres capacidades críticas: primero, la </a:t>
            </a:r>
            <a:r>
              <a:rPr lang="es-ES" b="1" dirty="0" err="1"/>
              <a:t>auto-reparación</a:t>
            </a:r>
            <a:r>
              <a:rPr lang="es-ES" dirty="0"/>
              <a:t>, reiniciando contenedores si detecta un fallo sin intervención humana."</a:t>
            </a:r>
          </a:p>
          <a:p>
            <a:pPr lvl="1"/>
            <a:r>
              <a:rPr lang="es-ES" dirty="0"/>
              <a:t>"Segundo, el </a:t>
            </a:r>
            <a:r>
              <a:rPr lang="es-ES" b="1" dirty="0"/>
              <a:t>escalado horizontal</a:t>
            </a:r>
            <a:r>
              <a:rPr lang="es-ES" dirty="0"/>
              <a:t>, que ajusta los recursos en tiempo real según la demanda de los usuarios."</a:t>
            </a:r>
          </a:p>
          <a:p>
            <a:pPr lvl="1"/>
            <a:r>
              <a:rPr lang="es-ES" dirty="0"/>
              <a:t>"Y tercero, una gestión eficiente de la configuración y secretos, permitiéndonos actualizar el sistema sin necesidad de reconstruir imágenes desde cero."</a:t>
            </a:r>
          </a:p>
          <a:p>
            <a:r>
              <a:rPr lang="es-ES" b="1" dirty="0"/>
              <a:t>Cierre:</a:t>
            </a:r>
            <a:r>
              <a:rPr lang="es-ES" dirty="0"/>
              <a:t> "Con esta arquitectura —desde el registro en </a:t>
            </a:r>
            <a:r>
              <a:rPr lang="es-ES" dirty="0" err="1"/>
              <a:t>MLflow</a:t>
            </a:r>
            <a:r>
              <a:rPr lang="es-ES" dirty="0"/>
              <a:t> hasta la orquestación en </a:t>
            </a:r>
            <a:r>
              <a:rPr lang="es-ES" dirty="0" err="1"/>
              <a:t>Kubernetes</a:t>
            </a:r>
            <a:r>
              <a:rPr lang="es-ES" dirty="0"/>
              <a:t>— aseguramos que nuestro modelo de IA sea no solo preciso, sino </a:t>
            </a:r>
            <a:r>
              <a:rPr lang="es-ES" b="1" dirty="0"/>
              <a:t>resiliente y escalable</a:t>
            </a:r>
            <a:r>
              <a:rPr lang="es-ES" dirty="0"/>
              <a:t> en un entorno de producción real."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14245C14-8A6B-C487-D3BA-F074C4E97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436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3087" y="1336327"/>
            <a:ext cx="8505825" cy="418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86412" y="1917352"/>
            <a:ext cx="10191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240518" y="2431702"/>
            <a:ext cx="7710963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 b="1" i="0" u="none" strike="noStrike" cap="none" noProof="0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Análisis de Transiciones</a:t>
            </a:r>
            <a:br>
              <a:rPr lang="es-E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4800" b="1" i="0" u="none" strike="noStrike" cap="none" noProof="0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en Ciclo de Vida </a:t>
            </a:r>
            <a:r>
              <a:rPr lang="es-ES" sz="4800" b="1" i="0" u="none" strike="noStrike" cap="none" noProof="0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MLOps</a:t>
            </a:r>
            <a:endParaRPr lang="es-ES" noProof="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424112" y="4108102"/>
            <a:ext cx="73437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 noProof="0" dirty="0">
                <a:solidFill>
                  <a:srgbClr val="475569"/>
                </a:solidFill>
                <a:latin typeface="Roboto Light"/>
                <a:ea typeface="Roboto Light"/>
                <a:cs typeface="Roboto Light"/>
                <a:sym typeface="Roboto Light"/>
              </a:rPr>
              <a:t>Despliegue Continuo (CD), Registro de Modelos y Aprobación Humana</a:t>
            </a:r>
            <a:endParaRPr lang="es-ES" noProof="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424112" y="4759523"/>
            <a:ext cx="73437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noProof="0" dirty="0" err="1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MLOps</a:t>
            </a:r>
            <a:r>
              <a:rPr lang="es-ES" sz="1200" b="0" i="0" u="none" strike="noStrike" cap="none" noProof="0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 &amp; AI BI</a:t>
            </a:r>
            <a:endParaRPr lang="es-ES" noProof="0"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14975" y="4769048"/>
            <a:ext cx="1714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F6496401-EEDF-EFFF-0BFF-4CA77E45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FDF3EBC8-C476-8E99-1ABF-F3814235B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70727"/>
            <a:ext cx="10488489" cy="206721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48D8777-0738-C3A3-9ED6-EFBC1B2DEDD7}"/>
              </a:ext>
            </a:extLst>
          </p:cNvPr>
          <p:cNvSpPr/>
          <p:nvPr/>
        </p:nvSpPr>
        <p:spPr>
          <a:xfrm>
            <a:off x="4380645" y="2937377"/>
            <a:ext cx="831850" cy="265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2FEA8C4-7A97-5D78-EA09-707B32574629}"/>
              </a:ext>
            </a:extLst>
          </p:cNvPr>
          <p:cNvSpPr/>
          <p:nvPr/>
        </p:nvSpPr>
        <p:spPr>
          <a:xfrm>
            <a:off x="6260245" y="3115177"/>
            <a:ext cx="831850" cy="265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594EB4-2114-05B8-A6BD-EB7FF3B85608}"/>
              </a:ext>
            </a:extLst>
          </p:cNvPr>
          <p:cNvSpPr/>
          <p:nvPr/>
        </p:nvSpPr>
        <p:spPr>
          <a:xfrm>
            <a:off x="1878745" y="2937377"/>
            <a:ext cx="730250" cy="639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DD16CA-292C-8E31-0380-18E054F4E34B}"/>
              </a:ext>
            </a:extLst>
          </p:cNvPr>
          <p:cNvSpPr/>
          <p:nvPr/>
        </p:nvSpPr>
        <p:spPr>
          <a:xfrm>
            <a:off x="8666893" y="2996307"/>
            <a:ext cx="831851" cy="4814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6D5B7A4-0761-4005-76CE-1B97D6BB7A53}"/>
              </a:ext>
            </a:extLst>
          </p:cNvPr>
          <p:cNvSpPr/>
          <p:nvPr/>
        </p:nvSpPr>
        <p:spPr>
          <a:xfrm>
            <a:off x="9863441" y="2871424"/>
            <a:ext cx="831850" cy="265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617569-8C36-3EE8-0F5B-407A96B3B244}"/>
              </a:ext>
            </a:extLst>
          </p:cNvPr>
          <p:cNvSpPr/>
          <p:nvPr/>
        </p:nvSpPr>
        <p:spPr>
          <a:xfrm>
            <a:off x="2728587" y="3212544"/>
            <a:ext cx="318558" cy="4388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45F7956-F1C8-15DB-0AF5-E1C4B14739F6}"/>
              </a:ext>
            </a:extLst>
          </p:cNvPr>
          <p:cNvSpPr/>
          <p:nvPr/>
        </p:nvSpPr>
        <p:spPr>
          <a:xfrm>
            <a:off x="2675670" y="3565305"/>
            <a:ext cx="151342" cy="4388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DCC9E1-6558-D4AB-B786-1705FFD01847}"/>
              </a:ext>
            </a:extLst>
          </p:cNvPr>
          <p:cNvSpPr/>
          <p:nvPr/>
        </p:nvSpPr>
        <p:spPr>
          <a:xfrm>
            <a:off x="2533854" y="2910919"/>
            <a:ext cx="194733" cy="211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" name="Google Shape;118;p14">
            <a:extLst>
              <a:ext uri="{FF2B5EF4-FFF2-40B4-BE49-F238E27FC236}">
                <a16:creationId xmlns:a16="http://schemas.microsoft.com/office/drawing/2014/main" id="{F0891B0E-CE23-8BB4-F63A-50D742BFEA64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noProof="0" dirty="0">
                <a:solidFill>
                  <a:srgbClr val="2563EB"/>
                </a:solidFill>
                <a:latin typeface="Montserrat SemiBold"/>
                <a:sym typeface="Montserrat SemiBold"/>
              </a:rPr>
              <a:t>Diagrama de flujo</a:t>
            </a:r>
            <a:endParaRPr lang="es-ES" noProof="0" dirty="0"/>
          </a:p>
        </p:txBody>
      </p:sp>
      <p:sp>
        <p:nvSpPr>
          <p:cNvPr id="14" name="Google Shape;119;p14">
            <a:extLst>
              <a:ext uri="{FF2B5EF4-FFF2-40B4-BE49-F238E27FC236}">
                <a16:creationId xmlns:a16="http://schemas.microsoft.com/office/drawing/2014/main" id="{7EB3CA85-7F82-96F4-DC04-F8868F153EB0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28;p15">
            <a:extLst>
              <a:ext uri="{FF2B5EF4-FFF2-40B4-BE49-F238E27FC236}">
                <a16:creationId xmlns:a16="http://schemas.microsoft.com/office/drawing/2014/main" id="{DE65FC19-9814-7833-D5B5-0CE6B5AABAFF}"/>
              </a:ext>
            </a:extLst>
          </p:cNvPr>
          <p:cNvSpPr txBox="1"/>
          <p:nvPr/>
        </p:nvSpPr>
        <p:spPr>
          <a:xfrm>
            <a:off x="571500" y="2189678"/>
            <a:ext cx="852768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s-ES" sz="135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Gestionar el ciclo de vida del modelo </a:t>
            </a:r>
            <a:r>
              <a:rPr lang="es-ES" sz="1350" b="1" dirty="0">
                <a:solidFill>
                  <a:srgbClr val="4ADE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tras el entrenamiento </a:t>
            </a:r>
            <a:r>
              <a:rPr lang="es-ES" sz="135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hasta su consumo </a:t>
            </a:r>
            <a:r>
              <a:rPr lang="es-ES" sz="1350" b="1" dirty="0">
                <a:solidFill>
                  <a:srgbClr val="4ADE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producción</a:t>
            </a:r>
            <a:r>
              <a:rPr lang="es-ES" sz="1350" dirty="0">
                <a:solidFill>
                  <a:srgbClr val="4ADE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s-ES" sz="1350" noProof="0" dirty="0">
              <a:solidFill>
                <a:srgbClr val="4ADE8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Google Shape;175;p17">
            <a:extLst>
              <a:ext uri="{FF2B5EF4-FFF2-40B4-BE49-F238E27FC236}">
                <a16:creationId xmlns:a16="http://schemas.microsoft.com/office/drawing/2014/main" id="{B9C0F7F9-50F4-BA32-F801-E06E003AEFE4}"/>
              </a:ext>
            </a:extLst>
          </p:cNvPr>
          <p:cNvSpPr txBox="1"/>
          <p:nvPr/>
        </p:nvSpPr>
        <p:spPr>
          <a:xfrm>
            <a:off x="571500" y="1785924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55139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dirty="0">
                <a:solidFill>
                  <a:srgbClr val="2563EB"/>
                </a:solidFill>
                <a:latin typeface="Montserrat SemiBold"/>
                <a:sym typeface="Montserrat SemiBold"/>
              </a:rPr>
              <a:t>Conceptos Clave y Cuellos de Botella</a:t>
            </a:r>
            <a:endParaRPr lang="es-ES" noProof="0" dirty="0"/>
          </a:p>
        </p:txBody>
      </p:sp>
      <p:sp>
        <p:nvSpPr>
          <p:cNvPr id="119" name="Google Shape;119;p14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5;p15" descr="image.png">
            <a:extLst>
              <a:ext uri="{FF2B5EF4-FFF2-40B4-BE49-F238E27FC236}">
                <a16:creationId xmlns:a16="http://schemas.microsoft.com/office/drawing/2014/main" id="{F89D0E2B-B8F9-D636-52B8-D7E6651A4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83309"/>
            <a:ext cx="5286375" cy="346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5;p15" descr="image.png">
            <a:extLst>
              <a:ext uri="{FF2B5EF4-FFF2-40B4-BE49-F238E27FC236}">
                <a16:creationId xmlns:a16="http://schemas.microsoft.com/office/drawing/2014/main" id="{CD92BAC5-2AAE-B6E6-9BC9-5682BA42F5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2225" y="2183309"/>
            <a:ext cx="5286375" cy="3465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27;p15">
            <a:extLst>
              <a:ext uri="{FF2B5EF4-FFF2-40B4-BE49-F238E27FC236}">
                <a16:creationId xmlns:a16="http://schemas.microsoft.com/office/drawing/2014/main" id="{F94ED715-6BFA-2C1F-1246-9620AF0042A3}"/>
              </a:ext>
            </a:extLst>
          </p:cNvPr>
          <p:cNvSpPr txBox="1"/>
          <p:nvPr/>
        </p:nvSpPr>
        <p:spPr>
          <a:xfrm>
            <a:off x="841599" y="2414630"/>
            <a:ext cx="43505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Datos vs Metadatos</a:t>
            </a:r>
            <a:endParaRPr lang="es-ES" noProof="0" dirty="0"/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9DB5F3A9-AC72-CF16-806C-A916A0034662}"/>
              </a:ext>
            </a:extLst>
          </p:cNvPr>
          <p:cNvSpPr txBox="1"/>
          <p:nvPr/>
        </p:nvSpPr>
        <p:spPr>
          <a:xfrm>
            <a:off x="6643685" y="2414973"/>
            <a:ext cx="43505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>
                <a:solidFill>
                  <a:srgbClr val="2563EB"/>
                </a:solidFill>
                <a:latin typeface="Montserrat SemiBold"/>
                <a:sym typeface="Montserrat SemiBold"/>
              </a:rPr>
              <a:t>El Cuello de Botella</a:t>
            </a:r>
            <a:endParaRPr lang="es-ES" noProof="0" dirty="0"/>
          </a:p>
        </p:txBody>
      </p:sp>
      <p:sp>
        <p:nvSpPr>
          <p:cNvPr id="16" name="Google Shape;128;p15">
            <a:extLst>
              <a:ext uri="{FF2B5EF4-FFF2-40B4-BE49-F238E27FC236}">
                <a16:creationId xmlns:a16="http://schemas.microsoft.com/office/drawing/2014/main" id="{93E78CD1-459C-57C8-8846-12E7C9055944}"/>
              </a:ext>
            </a:extLst>
          </p:cNvPr>
          <p:cNvSpPr txBox="1"/>
          <p:nvPr/>
        </p:nvSpPr>
        <p:spPr>
          <a:xfrm>
            <a:off x="841599" y="2959097"/>
            <a:ext cx="450532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  <a:sym typeface="Roboto"/>
              </a:rPr>
              <a:t>Dato: </a:t>
            </a:r>
            <a:r>
              <a:rPr lang="es-ES" dirty="0"/>
              <a:t>Es la carga útil (</a:t>
            </a:r>
            <a:r>
              <a:rPr lang="es-ES" i="1" dirty="0" err="1"/>
              <a:t>payload</a:t>
            </a:r>
            <a:r>
              <a:rPr lang="es-ES" dirty="0"/>
              <a:t>). </a:t>
            </a:r>
            <a:r>
              <a:rPr lang="es-ES" dirty="0" err="1"/>
              <a:t>Ej</a:t>
            </a:r>
            <a:r>
              <a:rPr lang="es-ES" dirty="0"/>
              <a:t>: El binario del modelo (.</a:t>
            </a:r>
            <a:r>
              <a:rPr lang="es-ES" dirty="0" err="1"/>
              <a:t>pkl</a:t>
            </a:r>
            <a:r>
              <a:rPr lang="es-ES" dirty="0"/>
              <a:t>) o la predicción final. Si falta, el sistema no funciona.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Metadato (</a:t>
            </a:r>
            <a:r>
              <a:rPr lang="es-ES" b="1" dirty="0" err="1">
                <a:solidFill>
                  <a:srgbClr val="4ADE80"/>
                </a:solidFill>
              </a:rPr>
              <a:t>Metadata</a:t>
            </a:r>
            <a:r>
              <a:rPr lang="es-ES" b="1" dirty="0">
                <a:solidFill>
                  <a:srgbClr val="4ADE80"/>
                </a:solidFill>
              </a:rPr>
              <a:t> Flow): </a:t>
            </a:r>
            <a:r>
              <a:rPr lang="es-ES" dirty="0"/>
              <a:t>Es el contexto. </a:t>
            </a:r>
            <a:r>
              <a:rPr lang="es-ES" dirty="0" err="1"/>
              <a:t>Ej</a:t>
            </a:r>
            <a:r>
              <a:rPr lang="es-ES" dirty="0"/>
              <a:t>: La etiqueta v1.0, métricas de precisión o quién lo aprobó. Sirve para auditoría y control.</a:t>
            </a:r>
            <a:endParaRPr lang="es-ES" noProof="0" dirty="0"/>
          </a:p>
        </p:txBody>
      </p:sp>
      <p:sp>
        <p:nvSpPr>
          <p:cNvPr id="17" name="Google Shape;128;p15">
            <a:extLst>
              <a:ext uri="{FF2B5EF4-FFF2-40B4-BE49-F238E27FC236}">
                <a16:creationId xmlns:a16="http://schemas.microsoft.com/office/drawing/2014/main" id="{9C0E8956-6F6F-C854-5BF8-C3F99FF91063}"/>
              </a:ext>
            </a:extLst>
          </p:cNvPr>
          <p:cNvSpPr txBox="1"/>
          <p:nvPr/>
        </p:nvSpPr>
        <p:spPr>
          <a:xfrm>
            <a:off x="6643685" y="2881687"/>
            <a:ext cx="450532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Punto crítico: </a:t>
            </a:r>
            <a:r>
              <a:rPr lang="es-ES" noProof="0" dirty="0"/>
              <a:t>La aprobación manual (</a:t>
            </a:r>
            <a:r>
              <a:rPr lang="es-ES" noProof="0" dirty="0" err="1"/>
              <a:t>Staging</a:t>
            </a:r>
            <a:r>
              <a:rPr lang="es-ES" noProof="0" dirty="0"/>
              <a:t> -&gt; </a:t>
            </a:r>
            <a:r>
              <a:rPr lang="es-ES" noProof="0" dirty="0" err="1"/>
              <a:t>Production</a:t>
            </a:r>
            <a:r>
              <a:rPr lang="es-ES" noProof="0" dirty="0"/>
              <a:t>)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Riesgo: </a:t>
            </a:r>
            <a:r>
              <a:rPr lang="es-ES" dirty="0"/>
              <a:t>Dependencia humana. Si el experto no está disponible, el despliegue se detiene.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Solución: </a:t>
            </a:r>
            <a:r>
              <a:rPr lang="es-ES" dirty="0"/>
              <a:t>Automatización basada en umbrales (si </a:t>
            </a:r>
            <a:r>
              <a:rPr lang="es-ES" dirty="0" err="1"/>
              <a:t>accuracy</a:t>
            </a:r>
            <a:r>
              <a:rPr lang="es-ES" dirty="0"/>
              <a:t> &gt; 98%, aprobar automáticamente).</a:t>
            </a:r>
            <a:endParaRPr lang="es-ES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887BC98E-AF6F-B408-7B96-B8057D2A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E3624F7E-FCAD-FDEA-20D5-20B589A98901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noProof="0" dirty="0">
                <a:solidFill>
                  <a:srgbClr val="2563EB"/>
                </a:solidFill>
                <a:latin typeface="Montserrat SemiBold"/>
                <a:sym typeface="Montserrat SemiBold"/>
              </a:rPr>
              <a:t>Resiliencia y Operaciones</a:t>
            </a:r>
            <a:endParaRPr lang="es-ES" noProof="0" dirty="0"/>
          </a:p>
        </p:txBody>
      </p:sp>
      <p:sp>
        <p:nvSpPr>
          <p:cNvPr id="119" name="Google Shape;119;p14">
            <a:extLst>
              <a:ext uri="{FF2B5EF4-FFF2-40B4-BE49-F238E27FC236}">
                <a16:creationId xmlns:a16="http://schemas.microsoft.com/office/drawing/2014/main" id="{70747C7F-ED0F-0787-9DEC-907983A1AE16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5;p15" descr="image.png">
            <a:extLst>
              <a:ext uri="{FF2B5EF4-FFF2-40B4-BE49-F238E27FC236}">
                <a16:creationId xmlns:a16="http://schemas.microsoft.com/office/drawing/2014/main" id="{D9AC2CEE-C47F-7F88-AD7F-B6365BC84B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83309"/>
            <a:ext cx="5286375" cy="346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5;p15" descr="image.png">
            <a:extLst>
              <a:ext uri="{FF2B5EF4-FFF2-40B4-BE49-F238E27FC236}">
                <a16:creationId xmlns:a16="http://schemas.microsoft.com/office/drawing/2014/main" id="{926D7C48-CEE6-7942-BCA0-3747AF1255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2225" y="2183309"/>
            <a:ext cx="5286375" cy="3465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27;p15">
            <a:extLst>
              <a:ext uri="{FF2B5EF4-FFF2-40B4-BE49-F238E27FC236}">
                <a16:creationId xmlns:a16="http://schemas.microsoft.com/office/drawing/2014/main" id="{DD7B9EA3-BCFC-0FAE-9171-C0B00442F0CA}"/>
              </a:ext>
            </a:extLst>
          </p:cNvPr>
          <p:cNvSpPr txBox="1"/>
          <p:nvPr/>
        </p:nvSpPr>
        <p:spPr>
          <a:xfrm>
            <a:off x="841599" y="2405956"/>
            <a:ext cx="486625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>
                <a:solidFill>
                  <a:srgbClr val="2563EB"/>
                </a:solidFill>
                <a:latin typeface="Montserrat SemiBold"/>
                <a:sym typeface="Montserrat SemiBold"/>
              </a:rPr>
              <a:t>Fallo crítico a las 3:00 AM</a:t>
            </a:r>
            <a:endParaRPr lang="es-ES" noProof="0" dirty="0"/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6C9AE637-3364-539E-4EB0-EC1112D8EF07}"/>
              </a:ext>
            </a:extLst>
          </p:cNvPr>
          <p:cNvSpPr txBox="1"/>
          <p:nvPr/>
        </p:nvSpPr>
        <p:spPr>
          <a:xfrm>
            <a:off x="6643685" y="2414973"/>
            <a:ext cx="43505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noProof="0" dirty="0">
                <a:solidFill>
                  <a:srgbClr val="2563EB"/>
                </a:solidFill>
                <a:latin typeface="Montserrat SemiBold"/>
                <a:sym typeface="Montserrat SemiBold"/>
              </a:rPr>
              <a:t>Despliegue Fallido</a:t>
            </a:r>
            <a:endParaRPr lang="es-ES" noProof="0" dirty="0"/>
          </a:p>
        </p:txBody>
      </p:sp>
      <p:sp>
        <p:nvSpPr>
          <p:cNvPr id="16" name="Google Shape;128;p15">
            <a:extLst>
              <a:ext uri="{FF2B5EF4-FFF2-40B4-BE49-F238E27FC236}">
                <a16:creationId xmlns:a16="http://schemas.microsoft.com/office/drawing/2014/main" id="{9859E2C8-8AC1-75FC-C0F6-964268DC11D9}"/>
              </a:ext>
            </a:extLst>
          </p:cNvPr>
          <p:cNvSpPr txBox="1"/>
          <p:nvPr/>
        </p:nvSpPr>
        <p:spPr>
          <a:xfrm>
            <a:off x="841599" y="2959097"/>
            <a:ext cx="450532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Detección:</a:t>
            </a:r>
            <a:r>
              <a:rPr lang="es-ES" b="1" dirty="0"/>
              <a:t> </a:t>
            </a:r>
            <a:r>
              <a:rPr lang="es-ES" dirty="0"/>
              <a:t>El </a:t>
            </a:r>
            <a:r>
              <a:rPr lang="es-ES" i="1" dirty="0" err="1"/>
              <a:t>Monitoring</a:t>
            </a:r>
            <a:r>
              <a:rPr lang="es-ES" i="1" dirty="0"/>
              <a:t> </a:t>
            </a:r>
            <a:r>
              <a:rPr lang="es-ES" i="1" dirty="0" err="1"/>
              <a:t>System</a:t>
            </a:r>
            <a:r>
              <a:rPr lang="es-ES" dirty="0"/>
              <a:t> detecta anomalías y dispara alertas automáticas (</a:t>
            </a:r>
            <a:r>
              <a:rPr lang="es-ES" dirty="0" err="1"/>
              <a:t>Slack</a:t>
            </a:r>
            <a:r>
              <a:rPr lang="es-ES" dirty="0"/>
              <a:t>/</a:t>
            </a:r>
            <a:r>
              <a:rPr lang="es-ES" dirty="0" err="1"/>
              <a:t>PagerDuty</a:t>
            </a:r>
            <a:r>
              <a:rPr lang="es-ES" dirty="0"/>
              <a:t>).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Reacción:</a:t>
            </a:r>
            <a:r>
              <a:rPr lang="es-ES" b="1" dirty="0"/>
              <a:t> </a:t>
            </a:r>
            <a:r>
              <a:rPr lang="es-ES" dirty="0"/>
              <a:t>El pipeline se detiene para evitar propagar el error, pero el servicio anterior sigue activo (no hay corte de servicio).</a:t>
            </a:r>
          </a:p>
        </p:txBody>
      </p:sp>
      <p:sp>
        <p:nvSpPr>
          <p:cNvPr id="17" name="Google Shape;128;p15">
            <a:extLst>
              <a:ext uri="{FF2B5EF4-FFF2-40B4-BE49-F238E27FC236}">
                <a16:creationId xmlns:a16="http://schemas.microsoft.com/office/drawing/2014/main" id="{ADE25CA8-B390-9D2D-AEB3-B327CD69D7E0}"/>
              </a:ext>
            </a:extLst>
          </p:cNvPr>
          <p:cNvSpPr txBox="1"/>
          <p:nvPr/>
        </p:nvSpPr>
        <p:spPr>
          <a:xfrm>
            <a:off x="6643685" y="2881687"/>
            <a:ext cx="450532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noProof="0" dirty="0">
                <a:solidFill>
                  <a:srgbClr val="4ADE80"/>
                </a:solidFill>
              </a:rPr>
              <a:t>Problema:</a:t>
            </a:r>
            <a:r>
              <a:rPr lang="es-ES" b="1" noProof="0" dirty="0"/>
              <a:t> </a:t>
            </a:r>
            <a:r>
              <a:rPr lang="es-ES" dirty="0"/>
              <a:t>El modelo nuevo es lento o impreciso con datos reales.</a:t>
            </a:r>
            <a:endParaRPr lang="es-ES" noProof="0" dirty="0"/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Mitigación</a:t>
            </a:r>
            <a:r>
              <a:rPr lang="es-ES" b="1" dirty="0"/>
              <a:t>: </a:t>
            </a:r>
            <a:r>
              <a:rPr lang="es-ES" dirty="0"/>
              <a:t>Estrategia de </a:t>
            </a:r>
            <a:r>
              <a:rPr lang="es-ES" b="1" dirty="0" err="1">
                <a:solidFill>
                  <a:srgbClr val="4ADE80"/>
                </a:solidFill>
              </a:rPr>
              <a:t>Canary</a:t>
            </a:r>
            <a:r>
              <a:rPr lang="es-ES" b="1" dirty="0">
                <a:solidFill>
                  <a:srgbClr val="4ADE80"/>
                </a:solidFill>
              </a:rPr>
              <a:t> </a:t>
            </a:r>
            <a:r>
              <a:rPr lang="es-ES" b="1" dirty="0" err="1">
                <a:solidFill>
                  <a:srgbClr val="4ADE80"/>
                </a:solidFill>
              </a:rPr>
              <a:t>Deployment</a:t>
            </a:r>
            <a:r>
              <a:rPr lang="es-ES" dirty="0">
                <a:solidFill>
                  <a:srgbClr val="4ADE80"/>
                </a:solidFill>
              </a:rPr>
              <a:t> </a:t>
            </a:r>
            <a:r>
              <a:rPr lang="es-ES" dirty="0"/>
              <a:t>(probar con 10% del tráfico).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noProof="0" dirty="0">
                <a:solidFill>
                  <a:srgbClr val="4ADE80"/>
                </a:solidFill>
              </a:rPr>
              <a:t>Recuperación: </a:t>
            </a:r>
            <a:r>
              <a:rPr lang="es-ES" b="1" dirty="0" err="1">
                <a:solidFill>
                  <a:srgbClr val="4ADE80"/>
                </a:solidFill>
              </a:rPr>
              <a:t>Rollback</a:t>
            </a:r>
            <a:r>
              <a:rPr lang="es-ES" b="1" dirty="0">
                <a:solidFill>
                  <a:srgbClr val="4ADE80"/>
                </a:solidFill>
              </a:rPr>
              <a:t> Automático</a:t>
            </a:r>
            <a:r>
              <a:rPr lang="es-ES" dirty="0">
                <a:solidFill>
                  <a:srgbClr val="4ADE80"/>
                </a:solidFill>
              </a:rPr>
              <a:t> </a:t>
            </a:r>
            <a:r>
              <a:rPr lang="es-ES" dirty="0"/>
              <a:t>a la versión anterior estable si aumentan los errores.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5307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5F1F3BCB-0A55-F811-B025-02AB8813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3ABE8792-8938-A4E9-7A0F-5000B1E488B0}"/>
              </a:ext>
            </a:extLst>
          </p:cNvPr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Análisis Detallado de Transiciones</a:t>
            </a:r>
            <a:endParaRPr lang="es-ES" noProof="0" dirty="0"/>
          </a:p>
        </p:txBody>
      </p:sp>
      <p:sp>
        <p:nvSpPr>
          <p:cNvPr id="119" name="Google Shape;119;p14">
            <a:extLst>
              <a:ext uri="{FF2B5EF4-FFF2-40B4-BE49-F238E27FC236}">
                <a16:creationId xmlns:a16="http://schemas.microsoft.com/office/drawing/2014/main" id="{FA580359-5067-3B33-A588-D02BD213D27B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0D59A13-A6DE-D89B-26DC-24246C731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503205"/>
              </p:ext>
            </p:extLst>
          </p:nvPr>
        </p:nvGraphicFramePr>
        <p:xfrm>
          <a:off x="571500" y="1487108"/>
          <a:ext cx="11049000" cy="4799388"/>
        </p:xfrm>
        <a:graphic>
          <a:graphicData uri="http://schemas.openxmlformats.org/drawingml/2006/table">
            <a:tbl>
              <a:tblPr firstRow="1" bandRow="1">
                <a:tableStyleId>{3C41CCF0-16FC-4418-AEE5-1E30532F3AE7}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3884841704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38799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702096888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844823257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860927313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098153363"/>
                    </a:ext>
                  </a:extLst>
                </a:gridCol>
              </a:tblGrid>
              <a:tr h="799898">
                <a:tc>
                  <a:txBody>
                    <a:bodyPr/>
                    <a:lstStyle/>
                    <a:p>
                      <a:r>
                        <a:rPr lang="es-ES" dirty="0"/>
                        <a:t>Transición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Dato Transferido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Herramienta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Modo de Fallo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Mitigación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27064"/>
                  </a:ext>
                </a:extLst>
              </a:tr>
              <a:tr h="799898">
                <a:tc>
                  <a:txBody>
                    <a:bodyPr/>
                    <a:lstStyle/>
                    <a:p>
                      <a:r>
                        <a:rPr lang="es-ES" dirty="0" err="1"/>
                        <a:t>Handover</a:t>
                      </a:r>
                      <a:r>
                        <a:rPr lang="es-ES" dirty="0"/>
                        <a:t> -&gt; </a:t>
                      </a:r>
                      <a:r>
                        <a:rPr lang="es-ES" dirty="0" err="1"/>
                        <a:t>Registry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Artefacto (.</a:t>
                      </a:r>
                      <a:r>
                        <a:rPr lang="es-ES" dirty="0" err="1"/>
                        <a:t>pkl</a:t>
                      </a:r>
                      <a:r>
                        <a:rPr lang="es-ES" dirty="0"/>
                        <a:t>/.</a:t>
                      </a:r>
                      <a:r>
                        <a:rPr lang="es-ES" dirty="0" err="1"/>
                        <a:t>onnx</a:t>
                      </a:r>
                      <a:r>
                        <a:rPr lang="es-E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MLflow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Archivo corrupto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Validación de </a:t>
                      </a:r>
                      <a:r>
                        <a:rPr lang="es-ES" dirty="0" err="1"/>
                        <a:t>Checksum</a:t>
                      </a:r>
                      <a:r>
                        <a:rPr lang="es-ES" dirty="0"/>
                        <a:t> (Hash)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932799"/>
                  </a:ext>
                </a:extLst>
              </a:tr>
              <a:tr h="799898">
                <a:tc>
                  <a:txBody>
                    <a:bodyPr/>
                    <a:lstStyle/>
                    <a:p>
                      <a:r>
                        <a:rPr lang="es-ES" dirty="0" err="1"/>
                        <a:t>Staging</a:t>
                      </a:r>
                      <a:r>
                        <a:rPr lang="es-ES" dirty="0"/>
                        <a:t> → </a:t>
                      </a:r>
                      <a:r>
                        <a:rPr lang="es-ES" dirty="0" err="1"/>
                        <a:t>Production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Metadato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Etiqueta de versión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MLflow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Demora en aprobación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Automatización por umbrales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713575"/>
                  </a:ext>
                </a:extLst>
              </a:tr>
              <a:tr h="799898">
                <a:tc>
                  <a:txBody>
                    <a:bodyPr/>
                    <a:lstStyle/>
                    <a:p>
                      <a:r>
                        <a:rPr lang="es-ES" dirty="0" err="1"/>
                        <a:t>Registry</a:t>
                      </a:r>
                      <a:r>
                        <a:rPr lang="es-ES" dirty="0"/>
                        <a:t> → 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Imagen de Contenedor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ArgoCD</a:t>
                      </a:r>
                      <a:r>
                        <a:rPr lang="es-ES" dirty="0"/>
                        <a:t> / 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Error al construir imagen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 </a:t>
                      </a:r>
                      <a:r>
                        <a:rPr lang="es-ES" dirty="0" err="1"/>
                        <a:t>Checks</a:t>
                      </a:r>
                      <a:r>
                        <a:rPr lang="es-ES" dirty="0"/>
                        <a:t> previos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170844"/>
                  </a:ext>
                </a:extLst>
              </a:tr>
              <a:tr h="799898">
                <a:tc>
                  <a:txBody>
                    <a:bodyPr/>
                    <a:lstStyle/>
                    <a:p>
                      <a:r>
                        <a:rPr lang="es-ES" dirty="0"/>
                        <a:t>CD → ML </a:t>
                      </a:r>
                      <a:r>
                        <a:rPr lang="es-ES" dirty="0" err="1"/>
                        <a:t>Model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Trigger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Configuración </a:t>
                      </a:r>
                      <a:r>
                        <a:rPr lang="es-ES" dirty="0" err="1"/>
                        <a:t>Yaml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Kubernetes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CrashLoopBackOff</a:t>
                      </a:r>
                      <a:r>
                        <a:rPr lang="es-ES" dirty="0"/>
                        <a:t> (Fallo arranque)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Rollback</a:t>
                      </a:r>
                      <a:r>
                        <a:rPr lang="es-ES" dirty="0"/>
                        <a:t> automático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279676"/>
                  </a:ext>
                </a:extLst>
              </a:tr>
              <a:tr h="799898">
                <a:tc>
                  <a:txBody>
                    <a:bodyPr/>
                    <a:lstStyle/>
                    <a:p>
                      <a:r>
                        <a:rPr lang="es-ES" dirty="0" err="1"/>
                        <a:t>Model</a:t>
                      </a:r>
                      <a:r>
                        <a:rPr lang="es-ES" dirty="0"/>
                        <a:t> →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JSON (</a:t>
                      </a:r>
                      <a:r>
                        <a:rPr lang="es-ES" dirty="0" err="1"/>
                        <a:t>Request</a:t>
                      </a:r>
                      <a:r>
                        <a:rPr lang="es-ES" dirty="0"/>
                        <a:t>/Response)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Rest</a:t>
                      </a:r>
                      <a:r>
                        <a:rPr lang="es-ES" dirty="0"/>
                        <a:t>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Alta latencia / </a:t>
                      </a:r>
                      <a:r>
                        <a:rPr lang="es-ES" dirty="0" err="1"/>
                        <a:t>Drift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Canary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Deployment</a:t>
                      </a:r>
                      <a:endParaRPr lang="es-E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300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8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09923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571501" y="249978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Tecnología propuesta: </a:t>
            </a:r>
            <a:r>
              <a:rPr lang="es-ES" sz="2100" b="0" i="0" u="none" strike="noStrike" cap="none" noProof="0" dirty="0" err="1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MLflow</a:t>
            </a:r>
            <a:endParaRPr lang="es-ES" noProof="0"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571501" y="2966505"/>
            <a:ext cx="528637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Roboto"/>
              </a:rPr>
              <a:t>¿Por qué </a:t>
            </a:r>
            <a:r>
              <a:rPr lang="es-ES" dirty="0" err="1">
                <a:sym typeface="Roboto"/>
              </a:rPr>
              <a:t>MLflow</a:t>
            </a:r>
            <a:r>
              <a:rPr lang="es-ES" dirty="0">
                <a:sym typeface="Roboto"/>
              </a:rPr>
              <a:t>?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 err="1">
                <a:sym typeface="Roboto"/>
              </a:rPr>
              <a:t>Estandar</a:t>
            </a:r>
            <a:r>
              <a:rPr lang="es-ES" dirty="0">
                <a:sym typeface="Roboto"/>
              </a:rPr>
              <a:t> de la industria para </a:t>
            </a:r>
            <a:r>
              <a:rPr lang="es-ES" b="1" dirty="0" err="1">
                <a:solidFill>
                  <a:srgbClr val="4ADE80"/>
                </a:solidFill>
                <a:sym typeface="Roboto"/>
              </a:rPr>
              <a:t>Model</a:t>
            </a:r>
            <a:r>
              <a:rPr lang="es-ES" b="1" dirty="0">
                <a:solidFill>
                  <a:srgbClr val="4ADE80"/>
                </a:solidFill>
                <a:sym typeface="Roboto"/>
              </a:rPr>
              <a:t> </a:t>
            </a:r>
            <a:r>
              <a:rPr lang="es-ES" b="1" dirty="0" err="1">
                <a:solidFill>
                  <a:srgbClr val="4ADE80"/>
                </a:solidFill>
                <a:sym typeface="Roboto"/>
              </a:rPr>
              <a:t>Registry</a:t>
            </a:r>
            <a:endParaRPr lang="es-ES" b="1" dirty="0">
              <a:solidFill>
                <a:srgbClr val="4ADE80"/>
              </a:solidFill>
              <a:sym typeface="Roboto"/>
            </a:endParaRP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dirty="0"/>
              <a:t>Gestiona nativamente el </a:t>
            </a:r>
            <a:r>
              <a:rPr lang="es-ES" b="1" dirty="0">
                <a:solidFill>
                  <a:srgbClr val="4ADE80"/>
                </a:solidFill>
              </a:rPr>
              <a:t>versionado</a:t>
            </a:r>
            <a:r>
              <a:rPr lang="es-ES" dirty="0"/>
              <a:t> y las etapas (</a:t>
            </a:r>
            <a:r>
              <a:rPr lang="es-ES" i="1" dirty="0" err="1"/>
              <a:t>Staging</a:t>
            </a:r>
            <a:r>
              <a:rPr lang="es-ES" i="1" dirty="0"/>
              <a:t>/</a:t>
            </a:r>
            <a:r>
              <a:rPr lang="es-ES" i="1" dirty="0" err="1"/>
              <a:t>Production</a:t>
            </a:r>
            <a:r>
              <a:rPr lang="es-ES" dirty="0"/>
              <a:t>).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Facilita la integración </a:t>
            </a:r>
            <a:r>
              <a:rPr lang="es-ES" dirty="0"/>
              <a:t>con herramientas de despliegue (CD) y permite </a:t>
            </a:r>
            <a:r>
              <a:rPr lang="es-ES" b="1" dirty="0">
                <a:solidFill>
                  <a:srgbClr val="4ADE80"/>
                </a:solidFill>
              </a:rPr>
              <a:t>trazabilidad</a:t>
            </a:r>
            <a:r>
              <a:rPr lang="es-ES" dirty="0"/>
              <a:t> total (quién aprobó qué modelo y cuándo).</a:t>
            </a:r>
            <a:endParaRPr lang="es-ES" noProof="0" dirty="0"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9923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 y Tecnología Elegida</a:t>
            </a:r>
            <a:endParaRPr lang="es-ES" noProof="0" dirty="0"/>
          </a:p>
        </p:txBody>
      </p:sp>
      <p:sp>
        <p:nvSpPr>
          <p:cNvPr id="184" name="Google Shape;184;p17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8406FEC8-2B8E-7448-CADA-5970457A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7" descr="image.png">
            <a:extLst>
              <a:ext uri="{FF2B5EF4-FFF2-40B4-BE49-F238E27FC236}">
                <a16:creationId xmlns:a16="http://schemas.microsoft.com/office/drawing/2014/main" id="{157F1309-6E5C-A561-BC77-413DB40C7B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5729" y="2009922"/>
            <a:ext cx="5452872" cy="400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C943ED8-658D-82B2-05C5-014AD7599E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9" t="14186" r="14987" b="12076"/>
          <a:stretch>
            <a:fillRect/>
          </a:stretch>
        </p:blipFill>
        <p:spPr bwMode="auto">
          <a:xfrm>
            <a:off x="5617464" y="1666293"/>
            <a:ext cx="6357677" cy="456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3" name="Google Shape;183;p17">
            <a:extLst>
              <a:ext uri="{FF2B5EF4-FFF2-40B4-BE49-F238E27FC236}">
                <a16:creationId xmlns:a16="http://schemas.microsoft.com/office/drawing/2014/main" id="{00D77694-D9EC-544E-8EB9-EB077B8CB898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Docker y </a:t>
            </a:r>
            <a:r>
              <a:rPr lang="es-ES" sz="3150" b="0" i="0" u="none" strike="noStrike" cap="none" noProof="0" dirty="0" err="1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ArgoCD</a:t>
            </a:r>
            <a:endParaRPr lang="es-ES" noProof="0" dirty="0"/>
          </a:p>
        </p:txBody>
      </p:sp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E0ADEF78-2FE5-5E11-157F-1A9A286BD672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2955F2-77D0-2D1E-58D8-2E9032780186}"/>
              </a:ext>
            </a:extLst>
          </p:cNvPr>
          <p:cNvSpPr txBox="1"/>
          <p:nvPr/>
        </p:nvSpPr>
        <p:spPr>
          <a:xfrm>
            <a:off x="533400" y="571500"/>
            <a:ext cx="5084064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>
              <a:buNone/>
            </a:pPr>
            <a:br>
              <a:rPr lang="es-E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s-ES" sz="4000" b="1" i="0" u="none" strike="noStrike" dirty="0">
                <a:solidFill>
                  <a:srgbClr val="38BDF8"/>
                </a:solidFill>
                <a:effectLst/>
                <a:latin typeface="Urbanist"/>
              </a:rPr>
              <a:t>Motores Modernos</a:t>
            </a:r>
            <a:endParaRPr lang="es-ES" b="0" dirty="0">
              <a:effectLst/>
            </a:endParaRPr>
          </a:p>
          <a:p>
            <a:pPr>
              <a:buNone/>
            </a:pPr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>
              <a:buNone/>
            </a:pPr>
            <a:r>
              <a:rPr lang="es-ES" sz="2000" b="1" i="0" u="none" strike="noStrike" dirty="0">
                <a:solidFill>
                  <a:srgbClr val="4ADE80"/>
                </a:solidFill>
                <a:effectLst/>
                <a:latin typeface="Urbanist"/>
              </a:rPr>
              <a:t>Contenedores Docker</a:t>
            </a:r>
            <a:endParaRPr lang="es-ES" b="0" dirty="0">
              <a:solidFill>
                <a:schemeClr val="tx1"/>
              </a:solidFill>
              <a:effectLst/>
            </a:endParaRPr>
          </a:p>
          <a:p>
            <a:pPr rtl="0">
              <a:buNone/>
            </a:pP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Estandarización del entorno de ejecución ("</a:t>
            </a:r>
            <a:r>
              <a:rPr lang="es-ES" sz="1400" b="0" i="0" u="none" strike="noStrike" dirty="0" err="1">
                <a:solidFill>
                  <a:schemeClr val="tx1"/>
                </a:solidFill>
                <a:effectLst/>
                <a:latin typeface="Urbanist"/>
              </a:rPr>
              <a:t>Build</a:t>
            </a: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 once, run </a:t>
            </a:r>
            <a:r>
              <a:rPr lang="es-ES" sz="1400" b="0" i="0" u="none" strike="noStrike" dirty="0" err="1">
                <a:solidFill>
                  <a:schemeClr val="tx1"/>
                </a:solidFill>
                <a:effectLst/>
                <a:latin typeface="Urbanist"/>
              </a:rPr>
              <a:t>anywhere</a:t>
            </a: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"). Garantiza portabilidad y aislamiento total de las aplicaciones.</a:t>
            </a:r>
            <a:endParaRPr lang="es-ES" b="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>
              <a:buNone/>
            </a:pPr>
            <a:r>
              <a:rPr lang="es-ES" sz="2000" b="1" i="0" u="none" strike="noStrike" dirty="0" err="1">
                <a:solidFill>
                  <a:srgbClr val="4ADE80"/>
                </a:solidFill>
                <a:effectLst/>
                <a:latin typeface="Urbanist"/>
              </a:rPr>
              <a:t>ArgoCD</a:t>
            </a:r>
            <a:r>
              <a:rPr lang="es-ES" sz="2000" b="1" i="0" u="none" strike="noStrike" dirty="0">
                <a:solidFill>
                  <a:srgbClr val="4ADE80"/>
                </a:solidFill>
                <a:effectLst/>
                <a:latin typeface="Urbanist"/>
              </a:rPr>
              <a:t> y </a:t>
            </a:r>
            <a:r>
              <a:rPr lang="es-ES" sz="2000" b="1" i="0" u="none" strike="noStrike" dirty="0" err="1">
                <a:solidFill>
                  <a:srgbClr val="4ADE80"/>
                </a:solidFill>
                <a:effectLst/>
                <a:latin typeface="Urbanist"/>
              </a:rPr>
              <a:t>GitOps</a:t>
            </a:r>
            <a:endParaRPr lang="es-ES" b="0" dirty="0">
              <a:effectLst/>
            </a:endParaRPr>
          </a:p>
          <a:p>
            <a:pPr rtl="0">
              <a:buNone/>
            </a:pP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Implementación declarativa en </a:t>
            </a:r>
            <a:r>
              <a:rPr lang="es-ES" sz="1400" b="0" i="0" u="none" strike="noStrike" dirty="0" err="1">
                <a:solidFill>
                  <a:schemeClr val="tx1"/>
                </a:solidFill>
                <a:effectLst/>
                <a:latin typeface="Urbanist"/>
              </a:rPr>
              <a:t>Kubernetes</a:t>
            </a: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. Sincroniza automáticamente el estado deseado (Git) con el clúster, permitiendo reversiones instantáneas.</a:t>
            </a:r>
            <a:endParaRPr lang="es-ES" b="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br>
              <a:rPr lang="es-ES" b="0" dirty="0">
                <a:solidFill>
                  <a:schemeClr val="tx1"/>
                </a:solidFill>
                <a:effectLst/>
              </a:rPr>
            </a:br>
            <a:endParaRPr lang="es-ES" b="0" dirty="0">
              <a:solidFill>
                <a:schemeClr val="tx1"/>
              </a:solidFill>
              <a:effectLst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Mayor velocidad de despliegue.</a:t>
            </a:r>
            <a:endParaRPr lang="es-ES" sz="1400" i="0" u="none" strike="noStrike" dirty="0">
              <a:solidFill>
                <a:schemeClr val="tx1"/>
              </a:solidFill>
              <a:latin typeface="Urbanist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b="0" dirty="0">
              <a:solidFill>
                <a:schemeClr val="tx1"/>
              </a:solidFill>
              <a:effectLst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Trazabilidad completa de cambios.</a:t>
            </a:r>
            <a:endParaRPr lang="es-ES" b="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br>
              <a:rPr lang="es-ES" dirty="0">
                <a:solidFill>
                  <a:schemeClr val="tx1"/>
                </a:solidFill>
              </a:rPr>
            </a:br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897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652FDAF2-D199-B029-CAF6-96191A9A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>
            <a:extLst>
              <a:ext uri="{FF2B5EF4-FFF2-40B4-BE49-F238E27FC236}">
                <a16:creationId xmlns:a16="http://schemas.microsoft.com/office/drawing/2014/main" id="{840EA54E-F2CF-FF95-152E-6EC6F89C89DB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b="0" i="0" u="none" strike="noStrike" cap="none" noProof="0" dirty="0" err="1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Kubernetes</a:t>
            </a:r>
            <a:endParaRPr lang="es-ES" noProof="0" dirty="0"/>
          </a:p>
        </p:txBody>
      </p:sp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B667B4CA-E289-7963-6CAC-858984E25FCB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9AA95ED-5326-B933-9091-8AFE2B7F837F}"/>
              </a:ext>
            </a:extLst>
          </p:cNvPr>
          <p:cNvSpPr txBox="1"/>
          <p:nvPr/>
        </p:nvSpPr>
        <p:spPr>
          <a:xfrm>
            <a:off x="533400" y="571500"/>
            <a:ext cx="5084064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>
              <a:buNone/>
            </a:pPr>
            <a:br>
              <a:rPr lang="es-E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s-ES" sz="4000" b="1" i="0" u="none" strike="noStrike" dirty="0">
                <a:solidFill>
                  <a:srgbClr val="38BDF8"/>
                </a:solidFill>
                <a:effectLst/>
                <a:latin typeface="Urbanist"/>
              </a:rPr>
              <a:t>Orquestación Global</a:t>
            </a:r>
            <a:endParaRPr lang="es-ES" b="0" dirty="0">
              <a:effectLst/>
            </a:endParaRPr>
          </a:p>
          <a:p>
            <a:pPr>
              <a:buNone/>
            </a:pPr>
            <a:r>
              <a:rPr lang="es-ES" dirty="0" err="1"/>
              <a:t>Kubernetes</a:t>
            </a:r>
            <a:r>
              <a:rPr lang="es-ES" dirty="0"/>
              <a:t> (K8s) es la plataforma líder de código abierto para automatizar el despliegue, escalado y gestión de aplicaciones en contenedores.</a:t>
            </a:r>
          </a:p>
          <a:p>
            <a:endParaRPr lang="es-ES" b="0" dirty="0">
              <a:effectLst/>
            </a:endParaRPr>
          </a:p>
          <a:p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>
              <a:buNone/>
            </a:pPr>
            <a:r>
              <a:rPr lang="es-ES" sz="2000" b="1" i="0" u="none" strike="noStrike" dirty="0">
                <a:solidFill>
                  <a:srgbClr val="4ADE80"/>
                </a:solidFill>
                <a:effectLst/>
                <a:latin typeface="Urbanist"/>
              </a:rPr>
              <a:t>Capacidades Clave</a:t>
            </a:r>
          </a:p>
          <a:p>
            <a:pPr rtl="0">
              <a:buNone/>
            </a:pPr>
            <a:endParaRPr lang="es-ES" sz="2000" b="1" i="0" u="none" strike="noStrike" dirty="0">
              <a:solidFill>
                <a:srgbClr val="4ADE80"/>
              </a:solidFill>
              <a:effectLst/>
              <a:latin typeface="Urbanis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Auto-reparación</a:t>
            </a:r>
            <a:r>
              <a:rPr lang="es-ES" b="1" dirty="0"/>
              <a:t>:</a:t>
            </a:r>
            <a:r>
              <a:rPr lang="es-ES" dirty="0"/>
              <a:t> Reinicia contenedores fallidos automáticamente.</a:t>
            </a:r>
            <a:endParaRPr lang="es-ES" b="0" dirty="0">
              <a:solidFill>
                <a:schemeClr val="tx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Escalado Horizontal:</a:t>
            </a:r>
            <a:r>
              <a:rPr lang="es-ES" dirty="0"/>
              <a:t> Ajusta recursos según la demanda en tiempo real.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Gestión de Configuración:</a:t>
            </a:r>
            <a:r>
              <a:rPr lang="es-ES" dirty="0"/>
              <a:t> Despliegue de secretos y configuración sin reconstruir imágenes.</a:t>
            </a:r>
          </a:p>
          <a:p>
            <a:br>
              <a:rPr lang="es-ES" dirty="0"/>
            </a:br>
            <a:br>
              <a:rPr lang="es-ES" dirty="0">
                <a:solidFill>
                  <a:schemeClr val="tx1"/>
                </a:solidFill>
              </a:rPr>
            </a:b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F6E10B-28BA-F0B7-7EBB-B8A2EF749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207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030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1415</Words>
  <Application>Microsoft Office PowerPoint</Application>
  <PresentationFormat>Panorámica</PresentationFormat>
  <Paragraphs>121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Calibri</vt:lpstr>
      <vt:lpstr>Roboto Light</vt:lpstr>
      <vt:lpstr>Roboto</vt:lpstr>
      <vt:lpstr>Urbanist</vt:lpstr>
      <vt:lpstr>Arial</vt:lpstr>
      <vt:lpstr>Montserrat</vt:lpstr>
      <vt:lpstr>Montserrat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Ignacio González</dc:creator>
  <cp:lastModifiedBy>Ignacio González Peris</cp:lastModifiedBy>
  <cp:revision>6</cp:revision>
  <dcterms:modified xsi:type="dcterms:W3CDTF">2026-02-26T17:08:15Z</dcterms:modified>
</cp:coreProperties>
</file>